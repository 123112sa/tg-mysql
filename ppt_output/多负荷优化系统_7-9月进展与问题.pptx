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881f3a7b134d15" /><Relationship Type="http://schemas.openxmlformats.org/officeDocument/2006/relationships/extended-properties" Target="/docProps/app.xml" Id="R7725fbc31ce44ba2" /><Relationship Type="http://schemas.openxmlformats.org/officeDocument/2006/relationships/officeDocument" Target="/ppt/presentation.xml" Id="Ra717ad8246624a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a2acae231b46ca"/>
  </p:sldMasterIdLst>
  <p:notesMasterIdLst>
    <p:notesMasterId xmlns:r="http://schemas.openxmlformats.org/officeDocument/2006/relationships" r:id="Raa31184836a740ae"/>
  </p:notesMasterIdLst>
  <p:sldIdLst>
    <p:sldId xmlns:r="http://schemas.openxmlformats.org/officeDocument/2006/relationships" id="256" r:id="R56ca34fdb34a42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cf5baacb544251" /><Relationship Type="http://schemas.openxmlformats.org/officeDocument/2006/relationships/slideMaster" Target="/ppt/slideMasters/slideMaster1.xml" Id="Re5a2acae231b46ca" /><Relationship Type="http://schemas.openxmlformats.org/officeDocument/2006/relationships/notesMaster" Target="/ppt/notesMasters/notesMaster1.xml" Id="Raa31184836a740ae" /><Relationship Type="http://schemas.openxmlformats.org/officeDocument/2006/relationships/presProps" Target="/ppt/presProps.xml" Id="Rc24bea50e874414c" /><Relationship Type="http://schemas.openxmlformats.org/officeDocument/2006/relationships/tableStyles" Target="/ppt/tableStyles.xml" Id="R40f2278668b94e59" /><Relationship Type="http://schemas.openxmlformats.org/officeDocument/2006/relationships/slide" Target="/ppt/slides/slide1.xml" Id="R56ca34fdb34a42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1abc1769df4c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fd9adcb06945bc" /><Relationship Type="http://schemas.openxmlformats.org/officeDocument/2006/relationships/notesMaster" Target="/ppt/notesMasters/notesMaster1.xml" Id="R2a266a4ce3dd4c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用户提供的《7-9月进展及下步计划-系统1和6.docx》多负荷优化系统相关段落。总体进度50%为文档中2026年9月14日口径。界面截图沿用用户提供的《一页-多负荷优化系统进展汇报20260704.pptx》，仅作7月界面示意。存在问题由文档的9月测试状态与下步计划归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44b5d21f8b46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e5e2e91c3242bc" /><Relationship Type="http://schemas.openxmlformats.org/officeDocument/2006/relationships/slideLayout" Target="/ppt/slideLayouts/slideLayout1.xml" Id="R8c9a19f0d8334f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9a19f0d8334f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66e5e2e2244c6" /><Relationship Type="http://schemas.openxmlformats.org/officeDocument/2006/relationships/image" Target="/ppt/media/image.png" Id="R3f2e2e75967a444b" /><Relationship Type="http://schemas.openxmlformats.org/officeDocument/2006/relationships/image" Target="/ppt/media/image2.png" Id="R8272357d6e6a4d77" /><Relationship Type="http://schemas.openxmlformats.org/officeDocument/2006/relationships/image" Target="/ppt/media/image3.png" Id="Rd0e089a2279447c4" /><Relationship Type="http://schemas.openxmlformats.org/officeDocument/2006/relationships/image" Target="/ppt/media/image4.png" Id="R62a357bb6cf24ae0" /><Relationship Type="http://schemas.openxmlformats.org/officeDocument/2006/relationships/image" Target="/ppt/media/image5.png" Id="Rf6332926d316461f" /><Relationship Type="http://schemas.openxmlformats.org/officeDocument/2006/relationships/notesSlide" Target="/ppt/notesSlides/notesSlide1.xml" Id="Rb9b9d082decb46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e2e75967a444b"/>
          <a:srcRect xmlns:a="http://schemas.openxmlformats.org/drawingml/2006/main" l="0" t="12474" r="0" b="124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47700"/>
          </a:xfrm>
          <a:prstGeom xmlns:a="http://schemas.openxmlformats.org/drawingml/2006/main" prst="rect">
            <a:avLst/>
          </a:prstGeom>
        </p:spPr>
      </p:pic>
      <p:sp>
        <p:nvSpPr>
          <p:cNvPr id="2" name="header-prefix">
            <a:extLst xmlns:a="http://schemas.openxmlformats.org/drawingml/2006/main">
              <a:ext uri="{FF2B5EF4-FFF2-40B4-BE49-F238E27FC236}">
                <a16:creationId xmlns:a16="http://schemas.microsoft.com/office/drawing/2014/main" id="{0EB8B35C-8F34-4B4B-B528-4F6062B6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6200"/>
            <a:ext cx="209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研究进展：</a:t>
            </a:r>
          </a:p>
        </p:txBody>
      </p:sp>
      <p:sp>
        <p:nvSpPr>
          <p:cNvPr id="3" name="header-subject">
            <a:extLst xmlns:a="http://schemas.openxmlformats.org/drawingml/2006/main">
              <a:ext uri="{FF2B5EF4-FFF2-40B4-BE49-F238E27FC236}">
                <a16:creationId xmlns:a16="http://schemas.microsoft.com/office/drawing/2014/main" id="{4C4EA698-5D34-446F-9B26-221DCF17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6200"/>
            <a:ext cx="3476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多负荷优化系统</a:t>
            </a:r>
          </a:p>
        </p:txBody>
      </p:sp>
      <p:sp>
        <p:nvSpPr>
          <p:cNvPr id="4" name="header-period">
            <a:extLst xmlns:a="http://schemas.openxmlformats.org/drawingml/2006/main">
              <a:ext uri="{FF2B5EF4-FFF2-40B4-BE49-F238E27FC236}">
                <a16:creationId xmlns:a16="http://schemas.microsoft.com/office/drawing/2014/main" id="{1BCAE1AD-2382-4437-A5AE-B7DA4508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1430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7—9月</a:t>
            </a:r>
          </a:p>
        </p:txBody>
      </p:sp>
      <p:sp>
        <p:nvSpPr>
          <p:cNvPr id="5" name="summary-background">
            <a:extLst xmlns:a="http://schemas.openxmlformats.org/drawingml/2006/main">
              <a:ext uri="{FF2B5EF4-FFF2-40B4-BE49-F238E27FC236}">
                <a16:creationId xmlns:a16="http://schemas.microsoft.com/office/drawing/2014/main" id="{0C4EBBDF-D2A7-4765-8444-2F42D05F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04850"/>
            <a:ext cx="115252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ummary-bullet-one">
            <a:extLst xmlns:a="http://schemas.openxmlformats.org/drawingml/2006/main">
              <a:ext uri="{FF2B5EF4-FFF2-40B4-BE49-F238E27FC236}">
                <a16:creationId xmlns:a16="http://schemas.microsoft.com/office/drawing/2014/main" id="{CCB4619B-E9A3-46D3-A75E-143AFA2F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66775"/>
            <a:ext cx="371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➢</a:t>
            </a:r>
          </a:p>
        </p:txBody>
      </p:sp>
      <p:sp>
        <p:nvSpPr>
          <p:cNvPr id="7" name="summary-july-august">
            <a:extLst xmlns:a="http://schemas.openxmlformats.org/drawingml/2006/main">
              <a:ext uri="{FF2B5EF4-FFF2-40B4-BE49-F238E27FC236}">
                <a16:creationId xmlns:a16="http://schemas.microsoft.com/office/drawing/2014/main" id="{9D4D2262-079A-451B-A901-83270028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19150"/>
            <a:ext cx="908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88" b="1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688" b="1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7—8月：校核模型参数，研发报表模块，优化并测试调度模型，形成初版离线系统。</a:t>
            </a:r>
          </a:p>
        </p:txBody>
      </p:sp>
      <p:sp>
        <p:nvSpPr>
          <p:cNvPr id="8" name="summary-bullet-two">
            <a:extLst xmlns:a="http://schemas.openxmlformats.org/drawingml/2006/main">
              <a:ext uri="{FF2B5EF4-FFF2-40B4-BE49-F238E27FC236}">
                <a16:creationId xmlns:a16="http://schemas.microsoft.com/office/drawing/2014/main" id="{87330467-016C-48CB-9AC3-FC70925A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57325"/>
            <a:ext cx="371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➢</a:t>
            </a:r>
          </a:p>
        </p:txBody>
      </p:sp>
      <p:sp>
        <p:nvSpPr>
          <p:cNvPr id="9" name="summary-september">
            <a:extLst xmlns:a="http://schemas.openxmlformats.org/drawingml/2006/main">
              <a:ext uri="{FF2B5EF4-FFF2-40B4-BE49-F238E27FC236}">
                <a16:creationId xmlns:a16="http://schemas.microsoft.com/office/drawing/2014/main" id="{8F164A4B-C20C-46ED-898D-2806E336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09700"/>
            <a:ext cx="908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88" b="1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688" b="1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9月：制作离线部署文件，修订测试大纲，开展报表生成、监控与预测等部分功能测试。</a:t>
            </a:r>
          </a:p>
        </p:txBody>
      </p:sp>
      <p:sp>
        <p:nvSpPr>
          <p:cNvPr id="10" name="progress-label">
            <a:extLst xmlns:a="http://schemas.openxmlformats.org/drawingml/2006/main">
              <a:ext uri="{FF2B5EF4-FFF2-40B4-BE49-F238E27FC236}">
                <a16:creationId xmlns:a16="http://schemas.microsoft.com/office/drawing/2014/main" id="{2236155D-ACAC-492B-A5EF-392E7A09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87630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总体进度</a:t>
            </a:r>
          </a:p>
        </p:txBody>
      </p:sp>
      <p:sp>
        <p:nvSpPr>
          <p:cNvPr id="11" name="progress-value">
            <a:extLst xmlns:a="http://schemas.openxmlformats.org/drawingml/2006/main">
              <a:ext uri="{FF2B5EF4-FFF2-40B4-BE49-F238E27FC236}">
                <a16:creationId xmlns:a16="http://schemas.microsoft.com/office/drawing/2014/main" id="{1F4DC449-FAB7-4A30-947C-E56870E9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123950"/>
            <a:ext cx="1476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125" b="1">
                <a:solidFill>
                  <a:srgbClr val="BD160D"/>
                </a:solidFill>
                <a:latin typeface="微软雅黑"/>
                <a:ea typeface="微软雅黑"/>
                <a:cs typeface="微软雅黑"/>
              </a:defRPr>
            </a:pPr>
            <a:r>
              <a:rPr sz="4125" b="1">
                <a:solidFill>
                  <a:srgbClr val="BD160D"/>
                </a:solidFill>
                <a:latin typeface="微软雅黑"/>
                <a:ea typeface="微软雅黑"/>
                <a:cs typeface="微软雅黑"/>
              </a:rPr>
              <a:t>50%</a:t>
            </a:r>
          </a:p>
        </p:txBody>
      </p:sp>
      <p:sp>
        <p:nvSpPr>
          <p:cNvPr id="12" name="timeline-heading">
            <a:extLst xmlns:a="http://schemas.openxmlformats.org/drawingml/2006/main">
              <a:ext uri="{FF2B5EF4-FFF2-40B4-BE49-F238E27FC236}">
                <a16:creationId xmlns:a16="http://schemas.microsoft.com/office/drawing/2014/main" id="{95B372AE-AA69-4846-9BA4-209C553E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1240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7—9月关键进展</a:t>
            </a:r>
          </a:p>
        </p:txBody>
      </p:sp>
      <p:sp>
        <p:nvSpPr>
          <p:cNvPr id="13" name="screenshots-heading">
            <a:extLst xmlns:a="http://schemas.openxmlformats.org/drawingml/2006/main">
              <a:ext uri="{FF2B5EF4-FFF2-40B4-BE49-F238E27FC236}">
                <a16:creationId xmlns:a16="http://schemas.microsoft.com/office/drawing/2014/main" id="{B928BE8A-2085-48E6-8EE0-763959E1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124075"/>
            <a:ext cx="501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系统界面示意（7月参考图）</a:t>
            </a:r>
          </a:p>
        </p:txBody>
      </p:sp>
      <p:sp>
        <p:nvSpPr>
          <p:cNvPr id="14" name="timeline-spine">
            <a:extLst xmlns:a="http://schemas.openxmlformats.org/drawingml/2006/main">
              <a:ext uri="{FF2B5EF4-FFF2-40B4-BE49-F238E27FC236}">
                <a16:creationId xmlns:a16="http://schemas.microsoft.com/office/drawing/2014/main" id="{125A270B-8AF1-45C3-9320-AAC2FBB3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28900"/>
            <a:ext cx="381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onth-0">
            <a:extLst xmlns:a="http://schemas.openxmlformats.org/drawingml/2006/main">
              <a:ext uri="{FF2B5EF4-FFF2-40B4-BE49-F238E27FC236}">
                <a16:creationId xmlns:a16="http://schemas.microsoft.com/office/drawing/2014/main" id="{2873771B-106A-4DFF-9970-DC0CC5BF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533650"/>
            <a:ext cx="809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8"/>
          </a:solidFill>
          <a:ln xmlns:a="http://schemas.openxmlformats.org/drawingml/2006/main" w="17145">
            <a:solidFill>
              <a:srgbClr val="0B5C97"/>
            </a:solidFill>
            <a:prstDash val="solid"/>
          </a:ln>
        </p:spPr>
      </p:sp>
      <p:sp>
        <p:nvSpPr>
          <p:cNvPr id="16" name="month-label-0">
            <a:extLst xmlns:a="http://schemas.openxmlformats.org/drawingml/2006/main">
              <a:ext uri="{FF2B5EF4-FFF2-40B4-BE49-F238E27FC236}">
                <a16:creationId xmlns:a16="http://schemas.microsoft.com/office/drawing/2014/main" id="{D41670AB-5584-4080-A3BC-FC963D93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562225"/>
            <a:ext cx="695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0B5C9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B5C97"/>
                </a:solidFill>
                <a:latin typeface="微软雅黑"/>
                <a:ea typeface="微软雅黑"/>
                <a:cs typeface="微软雅黑"/>
              </a:rPr>
              <a:t>7月</a:t>
            </a:r>
          </a:p>
        </p:txBody>
      </p:sp>
      <p:sp>
        <p:nvSpPr>
          <p:cNvPr id="17" name="milestone-title-0">
            <a:extLst xmlns:a="http://schemas.openxmlformats.org/drawingml/2006/main">
              <a:ext uri="{FF2B5EF4-FFF2-40B4-BE49-F238E27FC236}">
                <a16:creationId xmlns:a16="http://schemas.microsoft.com/office/drawing/2014/main" id="{AE968AE1-FFF9-4D91-82A1-D043B0DE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524125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BD160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D160D"/>
                </a:solidFill>
                <a:latin typeface="微软雅黑"/>
                <a:ea typeface="微软雅黑"/>
                <a:cs typeface="微软雅黑"/>
              </a:rPr>
              <a:t>模型与报表</a:t>
            </a:r>
          </a:p>
        </p:txBody>
      </p:sp>
      <p:sp>
        <p:nvSpPr>
          <p:cNvPr id="18" name="milestone-detail-0">
            <a:extLst xmlns:a="http://schemas.openxmlformats.org/drawingml/2006/main">
              <a:ext uri="{FF2B5EF4-FFF2-40B4-BE49-F238E27FC236}">
                <a16:creationId xmlns:a16="http://schemas.microsoft.com/office/drawing/2014/main" id="{58D2DB38-A7DB-4807-BBB2-36D4EC3F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67025"/>
            <a:ext cx="5086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38" b="0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538" b="0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结合生产数据校核模型参数，研发报表生成模块</a:t>
            </a:r>
          </a:p>
        </p:txBody>
      </p:sp>
      <p:sp>
        <p:nvSpPr>
          <p:cNvPr id="19" name="month-1">
            <a:extLst xmlns:a="http://schemas.openxmlformats.org/drawingml/2006/main">
              <a:ext uri="{FF2B5EF4-FFF2-40B4-BE49-F238E27FC236}">
                <a16:creationId xmlns:a16="http://schemas.microsoft.com/office/drawing/2014/main" id="{334374DA-6E10-48E6-AC0C-95CB3E60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400425"/>
            <a:ext cx="809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8"/>
          </a:solidFill>
          <a:ln xmlns:a="http://schemas.openxmlformats.org/drawingml/2006/main" w="17145">
            <a:solidFill>
              <a:srgbClr val="0B5C97"/>
            </a:solidFill>
            <a:prstDash val="solid"/>
          </a:ln>
        </p:spPr>
      </p:sp>
      <p:sp>
        <p:nvSpPr>
          <p:cNvPr id="20" name="month-label-1">
            <a:extLst xmlns:a="http://schemas.openxmlformats.org/drawingml/2006/main">
              <a:ext uri="{FF2B5EF4-FFF2-40B4-BE49-F238E27FC236}">
                <a16:creationId xmlns:a16="http://schemas.microsoft.com/office/drawing/2014/main" id="{31DF4180-9E5C-4BEF-B9B2-85BAE113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429000"/>
            <a:ext cx="695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0B5C9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B5C97"/>
                </a:solidFill>
                <a:latin typeface="微软雅黑"/>
                <a:ea typeface="微软雅黑"/>
                <a:cs typeface="微软雅黑"/>
              </a:rPr>
              <a:t>8月</a:t>
            </a:r>
          </a:p>
        </p:txBody>
      </p:sp>
      <p:sp>
        <p:nvSpPr>
          <p:cNvPr id="21" name="milestone-title-1">
            <a:extLst xmlns:a="http://schemas.openxmlformats.org/drawingml/2006/main">
              <a:ext uri="{FF2B5EF4-FFF2-40B4-BE49-F238E27FC236}">
                <a16:creationId xmlns:a16="http://schemas.microsoft.com/office/drawing/2014/main" id="{766E865C-C6E7-48AB-A6A8-59AEF849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9090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BD160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D160D"/>
                </a:solidFill>
                <a:latin typeface="微软雅黑"/>
                <a:ea typeface="微软雅黑"/>
                <a:cs typeface="微软雅黑"/>
              </a:rPr>
              <a:t>离线系统初版</a:t>
            </a:r>
          </a:p>
        </p:txBody>
      </p:sp>
      <p:sp>
        <p:nvSpPr>
          <p:cNvPr id="22" name="milestone-detail-1">
            <a:extLst xmlns:a="http://schemas.openxmlformats.org/drawingml/2006/main">
              <a:ext uri="{FF2B5EF4-FFF2-40B4-BE49-F238E27FC236}">
                <a16:creationId xmlns:a16="http://schemas.microsoft.com/office/drawing/2014/main" id="{4F2666F3-4941-44D4-A8E6-D90D0388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33800"/>
            <a:ext cx="5086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38" b="0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538" b="0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优化并测试调度模型，嵌入系统框架</a:t>
            </a:r>
          </a:p>
        </p:txBody>
      </p:sp>
      <p:sp>
        <p:nvSpPr>
          <p:cNvPr id="23" name="month-2">
            <a:extLst xmlns:a="http://schemas.openxmlformats.org/drawingml/2006/main">
              <a:ext uri="{FF2B5EF4-FFF2-40B4-BE49-F238E27FC236}">
                <a16:creationId xmlns:a16="http://schemas.microsoft.com/office/drawing/2014/main" id="{0457E658-0465-44FB-AFBF-77BF7A4A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267200"/>
            <a:ext cx="809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8"/>
          </a:solidFill>
          <a:ln xmlns:a="http://schemas.openxmlformats.org/drawingml/2006/main" w="17145">
            <a:solidFill>
              <a:srgbClr val="0B5C97"/>
            </a:solidFill>
            <a:prstDash val="solid"/>
          </a:ln>
        </p:spPr>
      </p:sp>
      <p:sp>
        <p:nvSpPr>
          <p:cNvPr id="24" name="month-label-2">
            <a:extLst xmlns:a="http://schemas.openxmlformats.org/drawingml/2006/main">
              <a:ext uri="{FF2B5EF4-FFF2-40B4-BE49-F238E27FC236}">
                <a16:creationId xmlns:a16="http://schemas.microsoft.com/office/drawing/2014/main" id="{54DCA00F-921F-4FAE-9421-3779279C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95775"/>
            <a:ext cx="695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0B5C9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B5C97"/>
                </a:solidFill>
                <a:latin typeface="微软雅黑"/>
                <a:ea typeface="微软雅黑"/>
                <a:cs typeface="微软雅黑"/>
              </a:rPr>
              <a:t>9月</a:t>
            </a:r>
          </a:p>
        </p:txBody>
      </p:sp>
      <p:sp>
        <p:nvSpPr>
          <p:cNvPr id="25" name="milestone-title-2">
            <a:extLst xmlns:a="http://schemas.openxmlformats.org/drawingml/2006/main">
              <a:ext uri="{FF2B5EF4-FFF2-40B4-BE49-F238E27FC236}">
                <a16:creationId xmlns:a16="http://schemas.microsoft.com/office/drawing/2014/main" id="{EBF88313-D31A-4DB6-B96C-93C2B424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57675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BD160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D160D"/>
                </a:solidFill>
                <a:latin typeface="微软雅黑"/>
                <a:ea typeface="微软雅黑"/>
                <a:cs typeface="微软雅黑"/>
              </a:rPr>
              <a:t>测试与部署准备</a:t>
            </a:r>
          </a:p>
        </p:txBody>
      </p:sp>
      <p:sp>
        <p:nvSpPr>
          <p:cNvPr id="26" name="milestone-detail-2">
            <a:extLst xmlns:a="http://schemas.openxmlformats.org/drawingml/2006/main">
              <a:ext uri="{FF2B5EF4-FFF2-40B4-BE49-F238E27FC236}">
                <a16:creationId xmlns:a16="http://schemas.microsoft.com/office/drawing/2014/main" id="{982C70DB-E01B-4672-AD37-98E68015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00575"/>
            <a:ext cx="5086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38" b="0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538" b="0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制作部署文件，修订测试大纲并测试部分功能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2357d6e6a4d77"/>
          <a:stretch xmlns:a="http://schemas.openxmlformats.org/drawingml/2006/main"/>
        </p:blipFill>
        <p:spPr>
          <a:xfrm xmlns:a="http://schemas.openxmlformats.org/drawingml/2006/main">
            <a:off x="6953250" y="2526315"/>
            <a:ext cx="2362200" cy="1252921"/>
          </a:xfrm>
          <a:prstGeom xmlns:a="http://schemas.openxmlformats.org/drawingml/2006/main" prst="rect">
            <a:avLst/>
          </a:prstGeom>
        </p:spPr>
      </p:pic>
      <p:sp>
        <p:nvSpPr>
          <p:cNvPr id="28" name="ui-0-border">
            <a:extLst xmlns:a="http://schemas.openxmlformats.org/drawingml/2006/main">
              <a:ext uri="{FF2B5EF4-FFF2-40B4-BE49-F238E27FC236}">
                <a16:creationId xmlns:a16="http://schemas.microsoft.com/office/drawing/2014/main" id="{931C8888-F859-4EC4-9F65-B959EDAE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24125"/>
            <a:ext cx="2362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CDD3"/>
            </a:solidFill>
            <a:prstDash val="solid"/>
          </a:ln>
        </p:spPr>
      </p:sp>
      <p:sp>
        <p:nvSpPr>
          <p:cNvPr id="29" name="ui-caption-0">
            <a:extLst xmlns:a="http://schemas.openxmlformats.org/drawingml/2006/main">
              <a:ext uri="{FF2B5EF4-FFF2-40B4-BE49-F238E27FC236}">
                <a16:creationId xmlns:a16="http://schemas.microsoft.com/office/drawing/2014/main" id="{38D84DB9-A248-4CF1-AF0B-610C1668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00475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流程画布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089a2279447c4"/>
          <a:stretch xmlns:a="http://schemas.openxmlformats.org/drawingml/2006/main"/>
        </p:blipFill>
        <p:spPr>
          <a:xfrm xmlns:a="http://schemas.openxmlformats.org/drawingml/2006/main">
            <a:off x="9525000" y="2526315"/>
            <a:ext cx="2362200" cy="1252921"/>
          </a:xfrm>
          <a:prstGeom xmlns:a="http://schemas.openxmlformats.org/drawingml/2006/main" prst="rect">
            <a:avLst/>
          </a:prstGeom>
        </p:spPr>
      </p:pic>
      <p:sp>
        <p:nvSpPr>
          <p:cNvPr id="31" name="ui-1-border">
            <a:extLst xmlns:a="http://schemas.openxmlformats.org/drawingml/2006/main">
              <a:ext uri="{FF2B5EF4-FFF2-40B4-BE49-F238E27FC236}">
                <a16:creationId xmlns:a16="http://schemas.microsoft.com/office/drawing/2014/main" id="{88E0BB75-2083-4F0A-8807-BC2C1B86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24125"/>
            <a:ext cx="2362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CDD3"/>
            </a:solidFill>
            <a:prstDash val="solid"/>
          </a:ln>
        </p:spPr>
      </p:sp>
      <p:sp>
        <p:nvSpPr>
          <p:cNvPr id="32" name="ui-caption-1">
            <a:extLst xmlns:a="http://schemas.openxmlformats.org/drawingml/2006/main">
              <a:ext uri="{FF2B5EF4-FFF2-40B4-BE49-F238E27FC236}">
                <a16:creationId xmlns:a16="http://schemas.microsoft.com/office/drawing/2014/main" id="{D56E0562-ADF0-4CB5-8219-6B501625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00475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参数录入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357bb6cf24ae0"/>
          <a:stretch xmlns:a="http://schemas.openxmlformats.org/drawingml/2006/main"/>
        </p:blipFill>
        <p:spPr>
          <a:xfrm xmlns:a="http://schemas.openxmlformats.org/drawingml/2006/main">
            <a:off x="6953250" y="4031265"/>
            <a:ext cx="2362200" cy="1252921"/>
          </a:xfrm>
          <a:prstGeom xmlns:a="http://schemas.openxmlformats.org/drawingml/2006/main" prst="rect">
            <a:avLst/>
          </a:prstGeom>
        </p:spPr>
      </p:pic>
      <p:sp>
        <p:nvSpPr>
          <p:cNvPr id="34" name="ui-2-border">
            <a:extLst xmlns:a="http://schemas.openxmlformats.org/drawingml/2006/main">
              <a:ext uri="{FF2B5EF4-FFF2-40B4-BE49-F238E27FC236}">
                <a16:creationId xmlns:a16="http://schemas.microsoft.com/office/drawing/2014/main" id="{E1CF6ABD-D82F-4585-AAB4-459DAA20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29075"/>
            <a:ext cx="2362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CDD3"/>
            </a:solidFill>
            <a:prstDash val="solid"/>
          </a:ln>
        </p:spPr>
      </p:sp>
      <p:sp>
        <p:nvSpPr>
          <p:cNvPr id="35" name="ui-caption-2">
            <a:extLst xmlns:a="http://schemas.openxmlformats.org/drawingml/2006/main">
              <a:ext uri="{FF2B5EF4-FFF2-40B4-BE49-F238E27FC236}">
                <a16:creationId xmlns:a16="http://schemas.microsoft.com/office/drawing/2014/main" id="{5AD23C10-660D-4B5D-864D-E7310279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05425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运算结果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32926d316461f"/>
          <a:stretch xmlns:a="http://schemas.openxmlformats.org/drawingml/2006/main"/>
        </p:blipFill>
        <p:spPr>
          <a:xfrm xmlns:a="http://schemas.openxmlformats.org/drawingml/2006/main">
            <a:off x="9525000" y="4031265"/>
            <a:ext cx="2362200" cy="1252921"/>
          </a:xfrm>
          <a:prstGeom xmlns:a="http://schemas.openxmlformats.org/drawingml/2006/main" prst="rect">
            <a:avLst/>
          </a:prstGeom>
        </p:spPr>
      </p:pic>
      <p:sp>
        <p:nvSpPr>
          <p:cNvPr id="37" name="ui-3-border">
            <a:extLst xmlns:a="http://schemas.openxmlformats.org/drawingml/2006/main">
              <a:ext uri="{FF2B5EF4-FFF2-40B4-BE49-F238E27FC236}">
                <a16:creationId xmlns:a16="http://schemas.microsoft.com/office/drawing/2014/main" id="{AAEB4389-B54F-4988-A25E-DAA34E78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29075"/>
            <a:ext cx="2362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CDD3"/>
            </a:solidFill>
            <a:prstDash val="solid"/>
          </a:ln>
        </p:spPr>
      </p:sp>
      <p:sp>
        <p:nvSpPr>
          <p:cNvPr id="38" name="ui-caption-3">
            <a:extLst xmlns:a="http://schemas.openxmlformats.org/drawingml/2006/main">
              <a:ext uri="{FF2B5EF4-FFF2-40B4-BE49-F238E27FC236}">
                <a16:creationId xmlns:a16="http://schemas.microsoft.com/office/drawing/2014/main" id="{726D2A31-D4E5-4C33-BDAC-961FB9B1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05425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趋势图</a:t>
            </a:r>
          </a:p>
        </p:txBody>
      </p:sp>
      <p:sp>
        <p:nvSpPr>
          <p:cNvPr id="39" name="issues-background">
            <a:extLst xmlns:a="http://schemas.openxmlformats.org/drawingml/2006/main">
              <a:ext uri="{FF2B5EF4-FFF2-40B4-BE49-F238E27FC236}">
                <a16:creationId xmlns:a16="http://schemas.microsoft.com/office/drawing/2014/main" id="{884D4D5D-0DC4-432F-AEB4-044FDF49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581650"/>
            <a:ext cx="1152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issues-heading">
            <a:extLst xmlns:a="http://schemas.openxmlformats.org/drawingml/2006/main">
              <a:ext uri="{FF2B5EF4-FFF2-40B4-BE49-F238E27FC236}">
                <a16:creationId xmlns:a16="http://schemas.microsoft.com/office/drawing/2014/main" id="{69A71434-78BF-4077-BFB0-5955F714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6578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BD160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160D"/>
                </a:solidFill>
                <a:latin typeface="微软雅黑"/>
                <a:ea typeface="微软雅黑"/>
                <a:cs typeface="微软雅黑"/>
              </a:rPr>
              <a:t>存在的问题</a:t>
            </a:r>
          </a:p>
        </p:txBody>
      </p:sp>
      <p:sp>
        <p:nvSpPr>
          <p:cNvPr id="41" name="issues-one">
            <a:extLst xmlns:a="http://schemas.openxmlformats.org/drawingml/2006/main">
              <a:ext uri="{FF2B5EF4-FFF2-40B4-BE49-F238E27FC236}">
                <a16:creationId xmlns:a16="http://schemas.microsoft.com/office/drawing/2014/main" id="{C4522109-D9C9-423A-B12A-8E02B3EF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197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➢ 部分功能仍在内部离线测试，测试中发现的系统 bug 需持续修复。</a:t>
            </a:r>
          </a:p>
        </p:txBody>
      </p:sp>
      <p:sp>
        <p:nvSpPr>
          <p:cNvPr id="42" name="issues-two">
            <a:extLst xmlns:a="http://schemas.openxmlformats.org/drawingml/2006/main">
              <a:ext uri="{FF2B5EF4-FFF2-40B4-BE49-F238E27FC236}">
                <a16:creationId xmlns:a16="http://schemas.microsoft.com/office/drawing/2014/main" id="{9C38DAF5-785E-413F-B0E1-7415E08F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1436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A0A0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A0A0A"/>
                </a:solidFill>
                <a:latin typeface="微软雅黑"/>
                <a:ea typeface="微软雅黑"/>
                <a:cs typeface="微软雅黑"/>
              </a:rPr>
              <a:t>➢ 前后端部署文件的有效性、完整性尚待验证，初版系统尚待部署。</a:t>
            </a:r>
          </a:p>
        </p:txBody>
      </p:sp>
      <p:sp>
        <p:nvSpPr>
          <p:cNvPr id="4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364C463-FE29-4F47-9508-1E84EF3B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9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264559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2026-09-21T05:39:51.8230000Z</dcterms:created>
  <dcterms:modified xsi:type="dcterms:W3CDTF">2026-09-21T05:39:51.8230000Z</dcterms:modified>
</coreProperties>
</file>